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30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2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5C0424"/>
          </a:solidFill>
          <a:ln w="12700">
            <a:solidFill>
              <a:srgbClr val="5C0424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777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8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CASUÍSTICA DE APRENDIZAJE</a:t>
            </a:r>
            <a:endParaRPr lang="es-PE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3840480" y="1115568"/>
            <a:ext cx="457200" cy="36576"/>
          </a:xfrm>
          <a:prstGeom prst="rect">
            <a:avLst/>
          </a:prstGeom>
          <a:solidFill>
            <a:srgbClr val="F48C8C"/>
          </a:solidFill>
          <a:ln w="12700">
            <a:solidFill>
              <a:srgbClr val="F48C8C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6"/>
          <p:cNvSpPr/>
          <p:nvPr/>
        </p:nvSpPr>
        <p:spPr>
          <a:xfrm>
            <a:off x="3840480" y="13258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 de Agravio</a:t>
            </a:r>
            <a:endParaRPr lang="es-PE" sz="36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es-PE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Constitucional</a:t>
            </a:r>
            <a:endParaRPr lang="es-PE" sz="3600" noProof="0" dirty="0"/>
          </a:p>
        </p:txBody>
      </p:sp>
      <p:sp>
        <p:nvSpPr>
          <p:cNvPr id="10" name="Text 7"/>
          <p:cNvSpPr/>
          <p:nvPr/>
        </p:nvSpPr>
        <p:spPr>
          <a:xfrm>
            <a:off x="384048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</a:t>
            </a:r>
            <a:r>
              <a:rPr lang="es-PE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Apelación con Efecto Suspensivo 09829-2024</a:t>
            </a:r>
            <a:endParaRPr lang="es-PE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3840480" y="36758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200" i="1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operativo en la gestión de una sentencia de amparo en segunda instancia</a:t>
            </a:r>
            <a:endParaRPr lang="es-PE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3840480" y="431139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INFORMACIÓN Y DOCUMENTACIÓN — CID</a:t>
            </a:r>
          </a:p>
          <a:p>
            <a:pPr marL="0" indent="0">
              <a:buNone/>
            </a:pPr>
            <a:r>
              <a:rPr lang="es-PE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Datos</a:t>
            </a:r>
            <a:endParaRPr lang="es-PE" sz="900" noProof="0" dirty="0"/>
          </a:p>
        </p:txBody>
      </p:sp>
      <p:sp>
        <p:nvSpPr>
          <p:cNvPr id="13" name="Shape 10"/>
          <p:cNvSpPr/>
          <p:nvPr/>
        </p:nvSpPr>
        <p:spPr>
          <a:xfrm>
            <a:off x="3840480" y="4681728"/>
            <a:ext cx="1188720" cy="292608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1"/>
          <p:cNvSpPr/>
          <p:nvPr/>
        </p:nvSpPr>
        <p:spPr>
          <a:xfrm>
            <a:off x="3840480" y="4681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9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</a:t>
            </a:r>
            <a:endParaRPr lang="es-PE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69494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2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del Caso</a:t>
            </a:r>
            <a:endParaRPr lang="es-PE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i="1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ocurrió?</a:t>
            </a:r>
            <a:endParaRPr lang="es-PE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6052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73152" cy="288036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1214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4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recibido</a:t>
            </a:r>
            <a:endParaRPr lang="es-PE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1417320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63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Suprema · Segunda instancia</a:t>
            </a:r>
            <a:endParaRPr lang="es-PE" sz="1000" noProof="0" dirty="0"/>
          </a:p>
        </p:txBody>
      </p:sp>
      <p:sp>
        <p:nvSpPr>
          <p:cNvPr id="12" name="Shape 9"/>
          <p:cNvSpPr/>
          <p:nvPr/>
        </p:nvSpPr>
        <p:spPr>
          <a:xfrm>
            <a:off x="777240" y="2697480"/>
            <a:ext cx="3566160" cy="822960"/>
          </a:xfrm>
          <a:prstGeom prst="rect">
            <a:avLst/>
          </a:prstGeom>
          <a:solidFill>
            <a:srgbClr val="F7ECEF"/>
          </a:solidFill>
          <a:ln w="9525">
            <a:solidFill>
              <a:srgbClr val="F4BDBD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noProof="0" dirty="0">
                <a:solidFill>
                  <a:srgbClr val="820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APELACIÓN CON EFECTO</a:t>
            </a:r>
            <a:endParaRPr lang="es-PE" sz="1200" noProof="0" dirty="0"/>
          </a:p>
          <a:p>
            <a:pPr marL="0" indent="0" algn="ctr">
              <a:buNone/>
            </a:pPr>
            <a:r>
              <a:rPr lang="es-PE" sz="1200" b="1" noProof="0" dirty="0">
                <a:solidFill>
                  <a:srgbClr val="820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SUSPENSIVO 09829-2024</a:t>
            </a:r>
            <a:endParaRPr lang="es-PE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82296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100" b="1" kern="0" spc="400" noProof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STIERLIFT S.A.</a:t>
            </a:r>
            <a:endParaRPr lang="es-PE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777240" y="36576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amparo — el estudio representa a la parte vencida.</a:t>
            </a:r>
            <a:endParaRPr lang="es-PE" sz="1100" noProof="0" dirty="0"/>
          </a:p>
        </p:txBody>
      </p:sp>
      <p:sp>
        <p:nvSpPr>
          <p:cNvPr id="16" name="Shape 13"/>
          <p:cNvSpPr/>
          <p:nvPr/>
        </p:nvSpPr>
        <p:spPr>
          <a:xfrm>
            <a:off x="4846320" y="1783080"/>
            <a:ext cx="3840480" cy="288036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Shape 14"/>
          <p:cNvSpPr/>
          <p:nvPr/>
        </p:nvSpPr>
        <p:spPr>
          <a:xfrm>
            <a:off x="5074920" y="2011680"/>
            <a:ext cx="502920" cy="502920"/>
          </a:xfrm>
          <a:prstGeom prst="ellipse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121408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1500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5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OPERATIVO</a:t>
            </a:r>
            <a:endParaRPr lang="es-PE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571500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Omisión del agendamiento</a:t>
            </a:r>
            <a:endParaRPr lang="es-PE" sz="1100" noProof="0" dirty="0"/>
          </a:p>
        </p:txBody>
      </p:sp>
      <p:sp>
        <p:nvSpPr>
          <p:cNvPr id="21" name="Text 17"/>
          <p:cNvSpPr/>
          <p:nvPr/>
        </p:nvSpPr>
        <p:spPr>
          <a:xfrm>
            <a:off x="507492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revisar la parte resolutiva, el equipo CID no agendó el recurso de agravio constitucional.</a:t>
            </a:r>
            <a:endParaRPr lang="es-PE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5074920" y="3703320"/>
            <a:ext cx="3474720" cy="36576"/>
          </a:xfrm>
          <a:prstGeom prst="rect">
            <a:avLst/>
          </a:prstGeom>
          <a:solidFill>
            <a:srgbClr val="F48C8C"/>
          </a:solidFill>
          <a:ln w="12700">
            <a:solidFill>
              <a:srgbClr val="F48C8C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Text 19"/>
          <p:cNvSpPr/>
          <p:nvPr/>
        </p:nvSpPr>
        <p:spPr>
          <a:xfrm>
            <a:off x="5074920" y="3840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omisión aparentemente menor con potencial impacto procesal grave.</a:t>
            </a:r>
            <a:endParaRPr lang="es-PE" sz="1100" noProof="0" dirty="0"/>
          </a:p>
        </p:txBody>
      </p:sp>
      <p:sp>
        <p:nvSpPr>
          <p:cNvPr id="24" name="Text 2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9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 ·  Centro de Información y Documentación – Equipo de Datos</a:t>
            </a:r>
            <a:endParaRPr lang="es-PE" sz="900" noProof="0" dirty="0"/>
          </a:p>
        </p:txBody>
      </p:sp>
      <p:sp>
        <p:nvSpPr>
          <p:cNvPr id="25" name="Text 2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MARCO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Jurídico: Recurso de Agravio Constitucional</a:t>
            </a:r>
            <a:endParaRPr lang="es-PE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JURÍDICO</a:t>
            </a:r>
            <a:endParaRPr lang="es-PE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40233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s-PE" sz="1000" noProof="0" dirty="0"/>
          </a:p>
        </p:txBody>
      </p:sp>
      <p:sp>
        <p:nvSpPr>
          <p:cNvPr id="10" name="Text 7"/>
          <p:cNvSpPr/>
          <p:nvPr/>
        </p:nvSpPr>
        <p:spPr>
          <a:xfrm>
            <a:off x="685800" y="21762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impugnatorio que permite al demandante elevar el proceso al Tribunal Constitucional.</a:t>
            </a:r>
            <a:endParaRPr lang="es-PE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685800" y="2926080"/>
            <a:ext cx="3566160" cy="18288"/>
          </a:xfrm>
          <a:prstGeom prst="rect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9"/>
          <p:cNvSpPr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PROCEDE?</a:t>
            </a:r>
            <a:endParaRPr lang="es-PE" sz="1000" noProof="0" dirty="0"/>
          </a:p>
        </p:txBody>
      </p:sp>
      <p:sp>
        <p:nvSpPr>
          <p:cNvPr id="13" name="Text 10"/>
          <p:cNvSpPr/>
          <p:nvPr/>
        </p:nvSpPr>
        <p:spPr>
          <a:xfrm>
            <a:off x="685800" y="3273552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 segunda instancia se declara infundada o improcedente la demanda constitucional — o cuando se resuelve en contra del demandante.</a:t>
            </a:r>
            <a:endParaRPr lang="es-PE" sz="1100" noProof="0" dirty="0"/>
          </a:p>
        </p:txBody>
      </p:sp>
      <p:sp>
        <p:nvSpPr>
          <p:cNvPr id="14" name="Shape 11"/>
          <p:cNvSpPr/>
          <p:nvPr/>
        </p:nvSpPr>
        <p:spPr>
          <a:xfrm>
            <a:off x="4663440" y="1417320"/>
            <a:ext cx="4023360" cy="365760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813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OPERATIVO</a:t>
            </a:r>
            <a:endParaRPr lang="es-PE" sz="1100" noProof="0" dirty="0"/>
          </a:p>
        </p:txBody>
      </p:sp>
      <p:sp>
        <p:nvSpPr>
          <p:cNvPr id="17" name="Shape 13"/>
          <p:cNvSpPr/>
          <p:nvPr/>
        </p:nvSpPr>
        <p:spPr>
          <a:xfrm>
            <a:off x="4663440" y="1783080"/>
            <a:ext cx="40233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Text 14"/>
          <p:cNvSpPr/>
          <p:nvPr/>
        </p:nvSpPr>
        <p:spPr>
          <a:xfrm>
            <a:off x="489204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C10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ACUERDO</a:t>
            </a:r>
            <a:endParaRPr lang="es-PE" sz="1000" noProof="0" dirty="0"/>
          </a:p>
        </p:txBody>
      </p:sp>
      <p:sp>
        <p:nvSpPr>
          <p:cNvPr id="19" name="Text 15"/>
          <p:cNvSpPr/>
          <p:nvPr/>
        </p:nvSpPr>
        <p:spPr>
          <a:xfrm>
            <a:off x="4892040" y="21579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agenda el RAC en todo proceso en el que nuestro cliente resulte vencido, sin evaluar en esta etapa la procedencia jurídica.</a:t>
            </a:r>
            <a:endParaRPr lang="es-PE" sz="1050" noProof="0" dirty="0"/>
          </a:p>
        </p:txBody>
      </p:sp>
      <p:sp>
        <p:nvSpPr>
          <p:cNvPr id="20" name="Text 16"/>
          <p:cNvSpPr/>
          <p:nvPr/>
        </p:nvSpPr>
        <p:spPr>
          <a:xfrm>
            <a:off x="4892040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C10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s-PE" sz="1000" noProof="0" dirty="0"/>
          </a:p>
        </p:txBody>
      </p:sp>
      <p:sp>
        <p:nvSpPr>
          <p:cNvPr id="21" name="Text 17"/>
          <p:cNvSpPr/>
          <p:nvPr/>
        </p:nvSpPr>
        <p:spPr>
          <a:xfrm>
            <a:off x="4892040" y="32095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 hábiles</a:t>
            </a:r>
            <a:r>
              <a:rPr lang="es-PE" sz="1050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contados desde la notificación de la resolución.</a:t>
            </a:r>
            <a:endParaRPr lang="es-PE" sz="1050" noProof="0" dirty="0"/>
          </a:p>
        </p:txBody>
      </p:sp>
      <p:sp>
        <p:nvSpPr>
          <p:cNvPr id="22" name="Text 18"/>
          <p:cNvSpPr/>
          <p:nvPr/>
        </p:nvSpPr>
        <p:spPr>
          <a:xfrm>
            <a:off x="4892040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C10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OPERATIVA</a:t>
            </a:r>
            <a:endParaRPr lang="es-PE" sz="1000" noProof="0" dirty="0"/>
          </a:p>
        </p:txBody>
      </p:sp>
      <p:sp>
        <p:nvSpPr>
          <p:cNvPr id="23" name="Text 19"/>
          <p:cNvSpPr/>
          <p:nvPr/>
        </p:nvSpPr>
        <p:spPr>
          <a:xfrm>
            <a:off x="4892040" y="398678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determinante es la naturaleza del representado; como complemento, el sentido de la sentencia.</a:t>
            </a:r>
            <a:endParaRPr lang="es-PE" sz="1050" noProof="0" dirty="0"/>
          </a:p>
        </p:txBody>
      </p:sp>
      <p:sp>
        <p:nvSpPr>
          <p:cNvPr id="24" name="Text 2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9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Centro de Información y Documentación – Equipo de Datos</a:t>
            </a:r>
            <a:endParaRPr lang="es-PE" sz="900" noProof="0" dirty="0"/>
          </a:p>
        </p:txBody>
      </p:sp>
      <p:sp>
        <p:nvSpPr>
          <p:cNvPr id="25" name="Text 2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EL PROBLEMA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0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se interpretó mal?</a:t>
            </a:r>
            <a:endParaRPr lang="es-PE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411480"/>
          </a:xfrm>
          <a:prstGeom prst="rect">
            <a:avLst/>
          </a:prstGeom>
          <a:solidFill>
            <a:srgbClr val="636571"/>
          </a:solidFill>
          <a:ln w="12700">
            <a:solidFill>
              <a:srgbClr val="636571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DECÍA</a:t>
            </a:r>
            <a:endParaRPr lang="es-PE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i="1" noProof="0" dirty="0">
                <a:solidFill>
                  <a:srgbClr val="63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resolución</a:t>
            </a:r>
            <a:endParaRPr lang="es-PE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621792" y="217627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Declaró fundada en parte la demanda de amparo y añadió que se "anula la sentencia de vista" — redacción que generó confusión inmediata.</a:t>
            </a:r>
            <a:endParaRPr lang="es-PE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3273552" y="137160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1" name="Shape 9"/>
          <p:cNvSpPr/>
          <p:nvPr/>
        </p:nvSpPr>
        <p:spPr>
          <a:xfrm>
            <a:off x="3273552" y="1371600"/>
            <a:ext cx="2697480" cy="411480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3410712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INTERPRETÓ</a:t>
            </a:r>
            <a:endParaRPr lang="es-PE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3438144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i="1" noProof="0" dirty="0">
                <a:solidFill>
                  <a:srgbClr val="C10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CID</a:t>
            </a:r>
            <a:endParaRPr lang="es-PE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3438144" y="217627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asumió que la anulación recaía sobre la sentencia de vista del propio proceso de amparo, sugiriendo devolución del expediente.</a:t>
            </a:r>
            <a:endParaRPr lang="es-PE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6089904" y="137160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Shape 14"/>
          <p:cNvSpPr/>
          <p:nvPr/>
        </p:nvSpPr>
        <p:spPr>
          <a:xfrm>
            <a:off x="6089904" y="1371600"/>
            <a:ext cx="2697480" cy="41148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5"/>
          <p:cNvSpPr/>
          <p:nvPr/>
        </p:nvSpPr>
        <p:spPr>
          <a:xfrm>
            <a:off x="6227064" y="1371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RESOLVÍA</a:t>
            </a:r>
            <a:endParaRPr lang="es-PE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6254496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i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realidad</a:t>
            </a:r>
            <a:endParaRPr lang="es-PE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6254496" y="217627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Sala declaró fundada en parte la demanda de amparo y anuló la sentencia de vista del proceso ordinario laboral — proceso distinto al constitucional.</a:t>
            </a:r>
            <a:endParaRPr lang="es-PE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96512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7280" y="3870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4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s-PE" sz="1000" noProof="0" dirty="0"/>
          </a:p>
        </p:txBody>
      </p:sp>
      <p:sp>
        <p:nvSpPr>
          <p:cNvPr id="23" name="Text 20"/>
          <p:cNvSpPr/>
          <p:nvPr/>
        </p:nvSpPr>
        <p:spPr>
          <a:xfrm>
            <a:off x="1097280" y="4145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Jurídicamente no correspondía · </a:t>
            </a:r>
            <a:r>
              <a:rPr lang="es-PE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Operativamente sí debía agendarse.  </a:t>
            </a:r>
            <a:r>
              <a:rPr lang="es-PE" sz="1400" i="1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mezclar ambos planos: la omisión fue un error operativo.</a:t>
            </a:r>
            <a:endParaRPr lang="es-PE" sz="1400" noProof="0" dirty="0"/>
          </a:p>
        </p:txBody>
      </p:sp>
      <p:sp>
        <p:nvSpPr>
          <p:cNvPr id="24" name="Text 2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9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Centro de Información y Documentación – Equipo de Datos</a:t>
            </a:r>
          </a:p>
        </p:txBody>
      </p:sp>
      <p:sp>
        <p:nvSpPr>
          <p:cNvPr id="25" name="Text 22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DIFERENCIACIÓN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 Constitucional  vs.  Proceso Ordinario</a:t>
            </a:r>
            <a:endParaRPr lang="es-PE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CONSTITUCIONAL (AMPARO)</a:t>
            </a:r>
            <a:endParaRPr lang="es-PE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noProof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 derechos fundamentales.</a:t>
            </a:r>
            <a:endParaRPr lang="es-PE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685800" y="24201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Destinado a proteger derechos fundamentales frente a actos u omisiones que los vulneren, cuya finalidad es restablecer la vigencia del derecho afectado, incluso mediante la anulación de actuaciones provenientes de otros procesos.</a:t>
            </a:r>
            <a:endParaRPr lang="es-PE" sz="1050" noProof="0" dirty="0"/>
          </a:p>
        </p:txBody>
      </p:sp>
      <p:sp>
        <p:nvSpPr>
          <p:cNvPr id="11" name="Shape 8"/>
          <p:cNvSpPr/>
          <p:nvPr/>
        </p:nvSpPr>
        <p:spPr>
          <a:xfrm>
            <a:off x="685800" y="3201924"/>
            <a:ext cx="3566160" cy="18288"/>
          </a:xfrm>
          <a:prstGeom prst="rect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9"/>
          <p:cNvSpPr/>
          <p:nvPr/>
        </p:nvSpPr>
        <p:spPr>
          <a:xfrm>
            <a:off x="685800" y="31821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i="1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sentencia fundada puede ordenar la nulidad de actos o resoluciones de otros procesos como consecuencia directa.</a:t>
            </a:r>
          </a:p>
          <a:p>
            <a:pPr marL="0" indent="0">
              <a:buNone/>
            </a:pPr>
            <a:endParaRPr lang="es-PE" sz="1050" i="1" noProof="0" dirty="0">
              <a:solidFill>
                <a:srgbClr val="5250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PE" sz="1050" noProof="0" dirty="0"/>
              <a:t>Protege derechos fundamentales → </a:t>
            </a:r>
            <a:r>
              <a:rPr lang="es-PE" sz="1050" i="1" noProof="0" dirty="0"/>
              <a:t>controla otros procesos</a:t>
            </a:r>
            <a:r>
              <a:rPr lang="es-PE" sz="1050" noProof="0" dirty="0"/>
              <a:t>.</a:t>
            </a:r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Shape 11"/>
          <p:cNvSpPr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solidFill>
            <a:srgbClr val="636571"/>
          </a:solidFill>
          <a:ln w="12700">
            <a:solidFill>
              <a:srgbClr val="636571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087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ORDINARIO LABORAL</a:t>
            </a:r>
            <a:endParaRPr lang="es-PE" sz="1050" noProof="0" dirty="0"/>
          </a:p>
        </p:txBody>
      </p:sp>
      <p:sp>
        <p:nvSpPr>
          <p:cNvPr id="17" name="Text 13"/>
          <p:cNvSpPr/>
          <p:nvPr/>
        </p:nvSpPr>
        <p:spPr>
          <a:xfrm>
            <a:off x="48920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noProof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controversias laborales con reglas propias.</a:t>
            </a:r>
            <a:endParaRPr lang="es-PE" sz="1100" noProof="0" dirty="0"/>
          </a:p>
        </p:txBody>
      </p:sp>
      <p:sp>
        <p:nvSpPr>
          <p:cNvPr id="18" name="Text 14"/>
          <p:cNvSpPr/>
          <p:nvPr/>
        </p:nvSpPr>
        <p:spPr>
          <a:xfrm>
            <a:off x="4892040" y="23942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jurisdiccional que resuelve controversias derivadas de la relación laboral conforme a reglas procedimentales propias, orientado a determinar derechos, obligaciones o responsabilidades entre las partes.</a:t>
            </a:r>
            <a:endParaRPr lang="es-PE" sz="1050" noProof="0" dirty="0"/>
          </a:p>
        </p:txBody>
      </p:sp>
      <p:sp>
        <p:nvSpPr>
          <p:cNvPr id="19" name="Shape 15"/>
          <p:cNvSpPr/>
          <p:nvPr/>
        </p:nvSpPr>
        <p:spPr>
          <a:xfrm>
            <a:off x="4892040" y="3188208"/>
            <a:ext cx="3566160" cy="18288"/>
          </a:xfrm>
          <a:prstGeom prst="rect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Text 16"/>
          <p:cNvSpPr/>
          <p:nvPr/>
        </p:nvSpPr>
        <p:spPr>
          <a:xfrm>
            <a:off x="4892040" y="32247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i="1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anulación de su sentencia de vista es un efecto del amparo — no parte de su propio trámite.</a:t>
            </a:r>
          </a:p>
          <a:p>
            <a:pPr marL="0" indent="0">
              <a:buNone/>
            </a:pPr>
            <a:endParaRPr lang="es-PE" sz="1050" i="1" dirty="0">
              <a:solidFill>
                <a:srgbClr val="5250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MX" sz="1050" noProof="0" dirty="0"/>
              <a:t>Resuelve el conflicto → genera la controversia base.</a:t>
            </a:r>
            <a:endParaRPr lang="es-PE" sz="1050" noProof="0" dirty="0"/>
          </a:p>
        </p:txBody>
      </p:sp>
      <p:sp>
        <p:nvSpPr>
          <p:cNvPr id="21" name="Shape 17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7ECEF"/>
          </a:solidFill>
          <a:ln w="9525">
            <a:solidFill>
              <a:srgbClr val="F4BDBD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2" name="Shape 18"/>
          <p:cNvSpPr/>
          <p:nvPr/>
        </p:nvSpPr>
        <p:spPr>
          <a:xfrm>
            <a:off x="457200" y="4206240"/>
            <a:ext cx="73152" cy="54864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Text 19"/>
          <p:cNvSpPr/>
          <p:nvPr/>
        </p:nvSpPr>
        <p:spPr>
          <a:xfrm>
            <a:off x="68580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i="1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anulación de la sentencia de vista en el proceso ordinario constituye un efecto del amparo fundado, sin afectar la calificación favorable del resultado del proceso constitucional.</a:t>
            </a:r>
            <a:endParaRPr lang="es-PE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9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Centro de Información y Documentación – Equipo de Datos</a:t>
            </a:r>
            <a:endParaRPr lang="es-PE" sz="900" noProof="0" dirty="0"/>
          </a:p>
        </p:txBody>
      </p:sp>
      <p:sp>
        <p:nvSpPr>
          <p:cNvPr id="25" name="Text 2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ANÁLISIS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del Error Operativo</a:t>
            </a:r>
            <a:endParaRPr lang="es-PE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834640" cy="320040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4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LITERAL</a:t>
            </a:r>
            <a:endParaRPr lang="es-PE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detuvieron en la palabra</a:t>
            </a:r>
            <a:endParaRPr lang="es-PE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4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«NULA»</a:t>
            </a:r>
            <a:endParaRPr lang="es-PE" sz="4200" noProof="0" dirty="0"/>
          </a:p>
        </p:txBody>
      </p:sp>
      <p:sp>
        <p:nvSpPr>
          <p:cNvPr id="9" name="Shape 7"/>
          <p:cNvSpPr/>
          <p:nvPr/>
        </p:nvSpPr>
        <p:spPr>
          <a:xfrm>
            <a:off x="1097280" y="3310128"/>
            <a:ext cx="1554480" cy="27432"/>
          </a:xfrm>
          <a:prstGeom prst="rect">
            <a:avLst/>
          </a:prstGeom>
          <a:solidFill>
            <a:srgbClr val="F48C8C"/>
          </a:solidFill>
          <a:ln w="12700">
            <a:solidFill>
              <a:srgbClr val="F48C8C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i="1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no fue de conocimiento jurídico profundo, sino de protocolo de lectura.</a:t>
            </a:r>
            <a:endParaRPr lang="es-PE" sz="1050" noProof="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5212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73152" cy="1508760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600200"/>
            <a:ext cx="274320" cy="274320"/>
          </a:xfrm>
          <a:prstGeom prst="rect">
            <a:avLst/>
          </a:prstGeom>
        </p:spPr>
      </p:pic>
      <p:pic>
        <p:nvPicPr>
          <p:cNvPr id="14" name="Image 1" descr="spac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C10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QUE GENERARON CONFUSIÓN</a:t>
            </a:r>
            <a:endParaRPr lang="es-PE" sz="1000" noProof="0" dirty="0"/>
          </a:p>
        </p:txBody>
      </p:sp>
      <p:sp>
        <p:nvSpPr>
          <p:cNvPr id="16" name="Text 12"/>
          <p:cNvSpPr/>
          <p:nvPr/>
        </p:nvSpPr>
        <p:spPr>
          <a:xfrm>
            <a:off x="3749040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PE" sz="110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ambigua de la parte resolutiva</a:t>
            </a:r>
            <a:endParaRPr lang="es-PE" sz="1100" noProof="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PE" sz="110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identificó el tipo de proceso (amparo)</a:t>
            </a:r>
            <a:endParaRPr lang="es-PE" sz="1100" noProof="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s-PE" sz="110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verificó la naturaleza del representado</a:t>
            </a:r>
            <a:endParaRPr lang="es-PE" sz="1100" noProof="0" dirty="0"/>
          </a:p>
        </p:txBody>
      </p:sp>
      <p:sp>
        <p:nvSpPr>
          <p:cNvPr id="17" name="Shape 13"/>
          <p:cNvSpPr/>
          <p:nvPr/>
        </p:nvSpPr>
        <p:spPr>
          <a:xfrm>
            <a:off x="3474720" y="3108960"/>
            <a:ext cx="5212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Shape 14"/>
          <p:cNvSpPr/>
          <p:nvPr/>
        </p:nvSpPr>
        <p:spPr>
          <a:xfrm>
            <a:off x="3474720" y="3108960"/>
            <a:ext cx="73152" cy="150876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2537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690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3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DEBIÓ REVISARSE</a:t>
            </a:r>
            <a:endParaRPr lang="es-PE" sz="1000" noProof="0" dirty="0"/>
          </a:p>
        </p:txBody>
      </p:sp>
      <p:sp>
        <p:nvSpPr>
          <p:cNvPr id="21" name="Text 16"/>
          <p:cNvSpPr/>
          <p:nvPr/>
        </p:nvSpPr>
        <p:spPr>
          <a:xfrm>
            <a:off x="3749040" y="35897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PE" sz="1200" noProof="0" dirty="0"/>
          </a:p>
        </p:txBody>
      </p:sp>
      <p:sp>
        <p:nvSpPr>
          <p:cNvPr id="22" name="Text 17"/>
          <p:cNvSpPr/>
          <p:nvPr/>
        </p:nvSpPr>
        <p:spPr>
          <a:xfrm>
            <a:off x="4005072" y="35585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un proceso de amparo?  →  Sí</a:t>
            </a:r>
            <a:endParaRPr lang="es-PE" sz="1050" noProof="0" dirty="0"/>
          </a:p>
        </p:txBody>
      </p:sp>
      <p:sp>
        <p:nvSpPr>
          <p:cNvPr id="23" name="Text 18"/>
          <p:cNvSpPr/>
          <p:nvPr/>
        </p:nvSpPr>
        <p:spPr>
          <a:xfrm>
            <a:off x="3753612" y="382143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PE" sz="1200" noProof="0" dirty="0"/>
          </a:p>
        </p:txBody>
      </p:sp>
      <p:sp>
        <p:nvSpPr>
          <p:cNvPr id="24" name="Text 19"/>
          <p:cNvSpPr/>
          <p:nvPr/>
        </p:nvSpPr>
        <p:spPr>
          <a:xfrm>
            <a:off x="4005072" y="381304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declaró fundada la demanda?  →  Sí</a:t>
            </a:r>
            <a:endParaRPr lang="es-PE" sz="1050" noProof="0" dirty="0"/>
          </a:p>
        </p:txBody>
      </p:sp>
      <p:sp>
        <p:nvSpPr>
          <p:cNvPr id="25" name="Text 20"/>
          <p:cNvSpPr/>
          <p:nvPr/>
        </p:nvSpPr>
        <p:spPr>
          <a:xfrm>
            <a:off x="3753612" y="406260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PE" sz="1200" noProof="0" dirty="0"/>
          </a:p>
        </p:txBody>
      </p:sp>
      <p:sp>
        <p:nvSpPr>
          <p:cNvPr id="26" name="Text 21"/>
          <p:cNvSpPr/>
          <p:nvPr/>
        </p:nvSpPr>
        <p:spPr>
          <a:xfrm>
            <a:off x="4005072" y="406146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estudio representa a la parte vencida?  →  Sí</a:t>
            </a:r>
            <a:endParaRPr lang="es-PE" sz="1050" noProof="0" dirty="0"/>
          </a:p>
        </p:txBody>
      </p:sp>
      <p:sp>
        <p:nvSpPr>
          <p:cNvPr id="27" name="Text 22"/>
          <p:cNvSpPr/>
          <p:nvPr/>
        </p:nvSpPr>
        <p:spPr>
          <a:xfrm>
            <a:off x="3749040" y="432435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b="1" i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Corresponde agendar el recurso de agravio constitucional.</a:t>
            </a:r>
            <a:endParaRPr lang="es-PE" sz="1050" noProof="0" dirty="0"/>
          </a:p>
        </p:txBody>
      </p:sp>
      <p:sp>
        <p:nvSpPr>
          <p:cNvPr id="28" name="Text 23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9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Centro de Información y Documentación – Equipo de Datos</a:t>
            </a:r>
            <a:endParaRPr lang="es-PE" sz="900" noProof="0" dirty="0"/>
          </a:p>
        </p:txBody>
      </p:sp>
      <p:sp>
        <p:nvSpPr>
          <p:cNvPr id="29" name="Text 24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2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6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LECCIÓN APRENDIDA</a:t>
            </a:r>
            <a:endParaRPr lang="es-PE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Regla del Caso</a:t>
            </a:r>
            <a:endParaRPr lang="es-PE" sz="3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48C8C"/>
          </a:solidFill>
          <a:ln w="12700">
            <a:solidFill>
              <a:srgbClr val="F48C8C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" cy="822960"/>
          </a:xfrm>
          <a:prstGeom prst="ellipse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299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7223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en un proceso de amparo en segunda instancia se declara fundada la demanda — incluso si la resolución menciona la anulación de una sentencia de vista — se debe verificar si dicha anulación corresponde a un proceso distinto (ordinario).</a:t>
            </a:r>
            <a:endParaRPr lang="es-PE" sz="1500" noProof="0" dirty="0"/>
          </a:p>
        </p:txBody>
      </p:sp>
      <p:sp>
        <p:nvSpPr>
          <p:cNvPr id="9" name="Text 6"/>
          <p:cNvSpPr/>
          <p:nvPr/>
        </p:nvSpPr>
        <p:spPr>
          <a:xfrm>
            <a:off x="1463040" y="30861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ese caso, al ser parte vencida, corresponde evaluar y agendar el recurso de agravio constitucional dentro del plazo de 10 días hábiles.</a:t>
            </a:r>
            <a:endParaRPr lang="es-PE" sz="1400" noProof="0" dirty="0"/>
          </a:p>
        </p:txBody>
      </p:sp>
      <p:sp>
        <p:nvSpPr>
          <p:cNvPr id="10" name="Shape 7"/>
          <p:cNvSpPr/>
          <p:nvPr/>
        </p:nvSpPr>
        <p:spPr>
          <a:xfrm>
            <a:off x="548640" y="3962400"/>
            <a:ext cx="8229600" cy="457200"/>
          </a:xfrm>
          <a:prstGeom prst="rect">
            <a:avLst/>
          </a:prstGeom>
          <a:solidFill>
            <a:srgbClr val="5C0424"/>
          </a:solidFill>
          <a:ln w="12700">
            <a:solidFill>
              <a:srgbClr val="5C0424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1" name="Text 8"/>
          <p:cNvSpPr/>
          <p:nvPr/>
        </p:nvSpPr>
        <p:spPr>
          <a:xfrm>
            <a:off x="731520" y="3962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kern="0" spc="1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ELEMENTOS DE VERIFICACIÓN OBLIGATORIA:  </a:t>
            </a:r>
            <a:r>
              <a:rPr lang="es-PE" sz="1100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proceso  +  naturaleza del representado  — siempre antes de descartar un recurso.</a:t>
            </a:r>
            <a:endParaRPr lang="es-PE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s-PE" sz="900" noProof="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</a:t>
            </a:r>
            <a:r>
              <a:rPr lang="es-MX" sz="9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Información y Documentación – Equipo de Datos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PROTOCOLO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200" b="1" noProof="0" dirty="0" err="1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</a:t>
            </a:r>
            <a:r>
              <a:rPr lang="es-PE" sz="22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Mínimo antes de Descartar un Recurso</a:t>
            </a:r>
            <a:endParaRPr lang="es-PE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i="1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obligatorias al recibir una sentencia</a:t>
            </a:r>
            <a:endParaRPr lang="es-PE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7" name="Shape 5"/>
          <p:cNvSpPr/>
          <p:nvPr/>
        </p:nvSpPr>
        <p:spPr>
          <a:xfrm>
            <a:off x="594360" y="1856232"/>
            <a:ext cx="457200" cy="45720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PE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naturaleza del proceso? (constitucional / ordinario)</a:t>
            </a:r>
            <a:endParaRPr lang="es-PE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1" name="Shape 9"/>
          <p:cNvSpPr/>
          <p:nvPr/>
        </p:nvSpPr>
        <p:spPr>
          <a:xfrm>
            <a:off x="4800600" y="1856232"/>
            <a:ext cx="457200" cy="45720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48006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PE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5394960" y="18013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estudio representa a la parte vencida en esta instancia?</a:t>
            </a:r>
            <a:endParaRPr lang="es-PE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Shape 13"/>
          <p:cNvSpPr/>
          <p:nvPr/>
        </p:nvSpPr>
        <p:spPr>
          <a:xfrm>
            <a:off x="594360" y="2697480"/>
            <a:ext cx="457200" cy="45720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s-PE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1188720" y="264261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resolución declara fundada o infundada la demanda?</a:t>
            </a:r>
            <a:endParaRPr lang="es-PE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4663440" y="253288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9" name="Shape 17"/>
          <p:cNvSpPr/>
          <p:nvPr/>
        </p:nvSpPr>
        <p:spPr>
          <a:xfrm>
            <a:off x="4800600" y="2697480"/>
            <a:ext cx="457200" cy="45720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s-PE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5394960" y="264261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efectos mencionados (nulidades, anulaciones) corresponden a este proceso o a uno distinto?</a:t>
            </a:r>
            <a:endParaRPr lang="es-PE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0" y="3389376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Shape 21"/>
          <p:cNvSpPr/>
          <p:nvPr/>
        </p:nvSpPr>
        <p:spPr>
          <a:xfrm>
            <a:off x="2880360" y="3553968"/>
            <a:ext cx="457200" cy="45720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4" name="Text 22"/>
          <p:cNvSpPr/>
          <p:nvPr/>
        </p:nvSpPr>
        <p:spPr>
          <a:xfrm>
            <a:off x="2880360" y="3553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s-PE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3474720" y="349910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ha calculado el plazo de 10 días hábiles desde la notificación?</a:t>
            </a:r>
            <a:endParaRPr lang="es-PE" sz="1050" noProof="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07408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05840" y="4297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de descarte de recurso debe adoptarse unilateralmente por el equipo CID sin validación del abogado a cargo.</a:t>
            </a:r>
            <a:endParaRPr lang="es-PE" sz="1100" noProof="0" dirty="0"/>
          </a:p>
        </p:txBody>
      </p:sp>
      <p:sp>
        <p:nvSpPr>
          <p:cNvPr id="33" name="Text 3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sz="9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Centro de Información y Documentación – Equipo de Datos</a:t>
            </a:r>
            <a:endParaRPr lang="es-PE" sz="900" noProof="0" dirty="0"/>
          </a:p>
        </p:txBody>
      </p:sp>
      <p:sp>
        <p:nvSpPr>
          <p:cNvPr id="34" name="Text 3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900" b="1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kern="0" spc="600" noProof="0" dirty="0">
                <a:solidFill>
                  <a:srgbClr val="820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CIERRE</a:t>
            </a:r>
            <a:endParaRPr lang="es-PE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Acciones Inmediatas</a:t>
            </a:r>
            <a:endParaRPr lang="es-PE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4800" b="1" noProof="0" dirty="0">
                <a:solidFill>
                  <a:srgbClr val="820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PE" sz="4800" noProof="0" dirty="0"/>
          </a:p>
        </p:txBody>
      </p:sp>
      <p:sp>
        <p:nvSpPr>
          <p:cNvPr id="7" name="Shape 5"/>
          <p:cNvSpPr/>
          <p:nvPr/>
        </p:nvSpPr>
        <p:spPr>
          <a:xfrm>
            <a:off x="2560320" y="1600200"/>
            <a:ext cx="457200" cy="457200"/>
          </a:xfrm>
          <a:prstGeom prst="ellipse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70078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423160"/>
            <a:ext cx="2331720" cy="27432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identificado</a:t>
            </a:r>
            <a:endParaRPr lang="es-PE" sz="1500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surgió de la lectura literal de la parte resolutiva sin analizar el tipo de proceso ni la naturaleza del representado. Se convierte en casuística oficial del equipo CID.</a:t>
            </a:r>
            <a:endParaRPr lang="es-PE" sz="1050" noProof="0" dirty="0"/>
          </a:p>
        </p:txBody>
      </p:sp>
      <p:sp>
        <p:nvSpPr>
          <p:cNvPr id="12" name="Shape 9"/>
          <p:cNvSpPr/>
          <p:nvPr/>
        </p:nvSpPr>
        <p:spPr>
          <a:xfrm>
            <a:off x="3273552" y="14173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0"/>
          <p:cNvSpPr/>
          <p:nvPr/>
        </p:nvSpPr>
        <p:spPr>
          <a:xfrm>
            <a:off x="3410712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4800" b="1" noProof="0" dirty="0">
                <a:solidFill>
                  <a:srgbClr val="C10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PE" sz="4800" noProof="0" dirty="0"/>
          </a:p>
        </p:txBody>
      </p:sp>
      <p:sp>
        <p:nvSpPr>
          <p:cNvPr id="14" name="Shape 11"/>
          <p:cNvSpPr/>
          <p:nvPr/>
        </p:nvSpPr>
        <p:spPr>
          <a:xfrm>
            <a:off x="5376672" y="1600200"/>
            <a:ext cx="457200" cy="457200"/>
          </a:xfrm>
          <a:prstGeom prst="ellipse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170078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56432" y="2423160"/>
            <a:ext cx="2331720" cy="27432"/>
          </a:xfrm>
          <a:prstGeom prst="rect">
            <a:avLst/>
          </a:prstGeom>
          <a:solidFill>
            <a:srgbClr val="C10640"/>
          </a:solidFill>
          <a:ln w="12700">
            <a:solidFill>
              <a:srgbClr val="C1064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3"/>
          <p:cNvSpPr/>
          <p:nvPr/>
        </p:nvSpPr>
        <p:spPr>
          <a:xfrm>
            <a:off x="3456432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 operativa adoptada</a:t>
            </a:r>
            <a:endParaRPr lang="es-PE" sz="1500" noProof="0" dirty="0"/>
          </a:p>
        </p:txBody>
      </p:sp>
      <p:sp>
        <p:nvSpPr>
          <p:cNvPr id="18" name="Text 14"/>
          <p:cNvSpPr/>
          <p:nvPr/>
        </p:nvSpPr>
        <p:spPr>
          <a:xfrm>
            <a:off x="3456432" y="3063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procesos de amparo con sentencia en segunda instancia, verificar siempre si la anulación afecta un proceso distinto. Si el estudio es parte vencida: evaluar y agendar el recurso en 10 días hábiles.</a:t>
            </a:r>
            <a:endParaRPr lang="es-PE" sz="1050" noProof="0" dirty="0"/>
          </a:p>
        </p:txBody>
      </p:sp>
      <p:sp>
        <p:nvSpPr>
          <p:cNvPr id="19" name="Shape 15"/>
          <p:cNvSpPr/>
          <p:nvPr/>
        </p:nvSpPr>
        <p:spPr>
          <a:xfrm>
            <a:off x="6089904" y="14173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Text 16"/>
          <p:cNvSpPr/>
          <p:nvPr/>
        </p:nvSpPr>
        <p:spPr>
          <a:xfrm>
            <a:off x="6227064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4800" b="1" noProof="0" dirty="0">
                <a:solidFill>
                  <a:srgbClr val="D10B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s-PE" sz="4800" noProof="0" dirty="0"/>
          </a:p>
        </p:txBody>
      </p:sp>
      <p:sp>
        <p:nvSpPr>
          <p:cNvPr id="21" name="Shape 17"/>
          <p:cNvSpPr/>
          <p:nvPr/>
        </p:nvSpPr>
        <p:spPr>
          <a:xfrm>
            <a:off x="8193024" y="1600200"/>
            <a:ext cx="457200" cy="457200"/>
          </a:xfrm>
          <a:prstGeom prst="ellipse">
            <a:avLst/>
          </a:prstGeom>
          <a:solidFill>
            <a:srgbClr val="D10B07"/>
          </a:solidFill>
          <a:ln w="12700">
            <a:solidFill>
              <a:srgbClr val="D10B0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1700784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72784" y="2423160"/>
            <a:ext cx="2331720" cy="27432"/>
          </a:xfrm>
          <a:prstGeom prst="rect">
            <a:avLst/>
          </a:prstGeom>
          <a:solidFill>
            <a:srgbClr val="D10B07"/>
          </a:solidFill>
          <a:ln w="12700">
            <a:solidFill>
              <a:srgbClr val="D10B0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4" name="Text 19"/>
          <p:cNvSpPr/>
          <p:nvPr/>
        </p:nvSpPr>
        <p:spPr>
          <a:xfrm>
            <a:off x="6272784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noProof="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 a implementar</a:t>
            </a:r>
            <a:endParaRPr lang="es-PE" sz="1500" noProof="0" dirty="0"/>
          </a:p>
        </p:txBody>
      </p:sp>
      <p:sp>
        <p:nvSpPr>
          <p:cNvPr id="25" name="Text 20"/>
          <p:cNvSpPr/>
          <p:nvPr/>
        </p:nvSpPr>
        <p:spPr>
          <a:xfrm>
            <a:off x="6272784" y="3063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el </a:t>
            </a:r>
            <a:r>
              <a:rPr lang="es-PE" sz="1050" noProof="0" dirty="0" err="1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r>
              <a:rPr lang="es-PE" sz="1050" noProof="0" dirty="0">
                <a:solidFill>
                  <a:srgbClr val="525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protocolo de registro. Activar alerta diferenciada para expedientes constitucionales. Establecer validación jurídica obligatoria ante dudas de agendamiento.</a:t>
            </a:r>
            <a:endParaRPr lang="es-PE" sz="1050" noProof="0" dirty="0"/>
          </a:p>
        </p:txBody>
      </p:sp>
      <p:sp>
        <p:nvSpPr>
          <p:cNvPr id="26" name="Shape 21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solidFill>
            <a:srgbClr val="820733"/>
          </a:solidFill>
          <a:ln w="12700">
            <a:solidFill>
              <a:srgbClr val="8207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7" name="Text 2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900" b="1" kern="0" spc="400" noProof="0" dirty="0">
                <a:solidFill>
                  <a:srgbClr val="F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V&amp;T ·  CENTRO DE INFORMACIÓN Y DOCUMENTACIÓN  ·  USO INTERNO</a:t>
            </a:r>
            <a:endParaRPr lang="es-PE" sz="900" noProof="0" dirty="0"/>
          </a:p>
        </p:txBody>
      </p:sp>
      <p:sp>
        <p:nvSpPr>
          <p:cNvPr id="28" name="Text 23"/>
          <p:cNvSpPr/>
          <p:nvPr/>
        </p:nvSpPr>
        <p:spPr>
          <a:xfrm>
            <a:off x="804672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800" noProof="0" dirty="0">
                <a:solidFill>
                  <a:srgbClr val="7F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s-PE" sz="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1081</Words>
  <Application>Microsoft Office PowerPoint</Application>
  <PresentationFormat>Presentación en pantalla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Casuística de Aprendizaje: Recurso de Agravio Constitucional</dc:title>
  <dc:subject>PptxGenJS Presentation</dc:subject>
  <dc:creator>V&amp;T Abogados - CID</dc:creator>
  <cp:lastModifiedBy>Claudia Vasquez</cp:lastModifiedBy>
  <cp:revision>6</cp:revision>
  <dcterms:created xsi:type="dcterms:W3CDTF">2026-04-17T17:53:58Z</dcterms:created>
  <dcterms:modified xsi:type="dcterms:W3CDTF">2026-04-17T21:51:08Z</dcterms:modified>
</cp:coreProperties>
</file>